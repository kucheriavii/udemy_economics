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8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768A8-4590-4297-B385-CDF7464121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58C8C-E1AB-4739-B100-19E25CB29E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63457-3DC0-4D3C-BDB1-9261DDF21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1429-AEE4-4ED5-978C-F22860892DD4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8E408-E5FF-46EA-918E-EF701D385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3B8ED-FFDD-4FD4-B799-D151335E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2035-A2A4-493C-92CD-955B0718B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42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4280D-4388-4CD1-9B9F-1612176B8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F57D7-93D1-4E10-BAB8-28C7F9891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8DA77-552A-4C43-A098-63A1A3141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1429-AEE4-4ED5-978C-F22860892DD4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3F5CF-D057-475C-9328-1B3872F86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A7D91-5205-416D-A36A-6E000AFE9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2035-A2A4-493C-92CD-955B0718B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70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44550-D3AE-42B0-9BE3-EC09542A0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F68E2-56DB-4C0E-9A95-063224865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C4AD5-2775-4A09-A483-836663764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1429-AEE4-4ED5-978C-F22860892DD4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4285FC-2A47-4C26-BC57-617F65DDE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BBDDB-00B3-4280-B888-C02541927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2035-A2A4-493C-92CD-955B0718B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17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966B6-DBBC-4559-99A3-F46C47027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2FF28-D88A-4AA9-8EFF-04A0DC4B5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89781B-CCF0-401A-BF3D-DA55D0945F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27BA5-EBBF-44A1-A079-EB787CF09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1429-AEE4-4ED5-978C-F22860892DD4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6578A6-5390-4702-A685-B723AF524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76A0A-DCD9-40FA-9B9B-C893817E1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2035-A2A4-493C-92CD-955B0718B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06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17963-FE09-48A5-B39C-F20F21E93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74F2A-3FC0-4F18-B0AC-C952E008A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3F19D-CFC7-47CC-9C2B-DF35D6037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DF2591-E7AF-41EE-BAB3-4637E123A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540B7-F864-409E-BFCD-884D9C4D89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B5D250-DBC1-4B0F-A388-D997129A5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1429-AEE4-4ED5-978C-F22860892DD4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B5FA13-013A-4C71-B23A-59DED8CAE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B34322-EA65-407C-834C-B62E7DAF7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2035-A2A4-493C-92CD-955B0718B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38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B7BF3-791A-48AB-A284-35A0E8ABB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20C3D0-4DDC-4BFD-8334-E81F47CD5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1429-AEE4-4ED5-978C-F22860892DD4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28EC8B-C686-4E31-85B8-24289331B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F46F8-A4AE-434E-B01B-ABE8AF239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2035-A2A4-493C-92CD-955B0718B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591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1AEA48-5F98-41EC-8CB9-3FEA5D2D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1429-AEE4-4ED5-978C-F22860892DD4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ADFF27-9802-4634-8777-06648123D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5B4C0-E242-4B3F-9887-590387244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2035-A2A4-493C-92CD-955B0718B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35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BFC01-E02A-4F94-8139-04FFBB97B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3DE14-4249-43A8-930F-B5F506E80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592EE5-C1D2-4D95-8ABF-A28CC06A6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EEDEC-8FC5-402F-A3EC-8DAA38012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1429-AEE4-4ED5-978C-F22860892DD4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37E4D-9D2D-4E57-B5DA-84D26D7CF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752DF0-CC7D-40E7-853C-7DE5729EF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2035-A2A4-493C-92CD-955B0718B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847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AFB3C-998D-4438-A581-352AC1216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90CE2F-3FC7-46BF-B185-3A914E0A2B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193690-50B6-4F53-87F6-0BBF33BF4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8A5DC-713A-4423-8A55-0AACCCDBE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1429-AEE4-4ED5-978C-F22860892DD4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E79241-07C3-44E0-B8A4-02E5B94FE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D0AA5-E8DE-44B4-BC65-97318C8D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2035-A2A4-493C-92CD-955B0718B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8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EE167-373C-428F-A006-57356FEB1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929023-6164-4D59-81B1-A4DC89ABB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4BA15-D666-45C8-B277-777899C2C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1429-AEE4-4ED5-978C-F22860892DD4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7C655-4809-45FC-B4D1-95B7E2F35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CE04F-F330-4156-95C2-9055F5AE5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2035-A2A4-493C-92CD-955B0718B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286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060A6D-1B74-4D44-9777-1E86899E68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BCD82-4446-4128-9A36-7ABBB8838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6C5E5-A880-4C21-AF81-8F72DC78C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E1429-AEE4-4ED5-978C-F22860892DD4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870A7-2E7D-4B00-8328-7B7388777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E881D-2D13-47E3-B650-0BE14D61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C2035-A2A4-493C-92CD-955B0718B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683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8AF3C1-FE67-440F-A523-F8D7F6E1D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C16A0-3358-47D3-AA5A-6C3C2D024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451EF-3052-430F-B8F8-020F4911DA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E1429-AEE4-4ED5-978C-F22860892DD4}" type="datetimeFigureOut">
              <a:rPr lang="en-US" smtClean="0"/>
              <a:t>1/24/2020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DA00E-63C2-4054-8869-6D17F51ABA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BB0A8-FC46-4003-8795-9A672EE27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C2035-A2A4-493C-92CD-955B0718B0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423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75099" y="533401"/>
            <a:ext cx="7940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Cost Flow methods – Exercise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05000" y="1039368"/>
            <a:ext cx="8071376" cy="2743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 rot="5400000">
            <a:off x="1735836" y="870204"/>
            <a:ext cx="365760" cy="2743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86000" y="3930202"/>
            <a:ext cx="7690376" cy="457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286000" y="4555042"/>
            <a:ext cx="76903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286000" y="5134162"/>
            <a:ext cx="76903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286000" y="5713282"/>
            <a:ext cx="76903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86000" y="3628113"/>
            <a:ext cx="1447800" cy="215444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Accounting for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3554" y="3628113"/>
            <a:ext cx="1219200" cy="215444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1163" y="3628113"/>
            <a:ext cx="1219200" cy="215444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Inventory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5999" y="4094270"/>
            <a:ext cx="1697603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Specific Identification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3554" y="4094270"/>
            <a:ext cx="25908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41163" y="4094270"/>
            <a:ext cx="20574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799769"/>
            <a:ext cx="12192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FIFO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301802"/>
            <a:ext cx="1697602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Weighted average cost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5836357"/>
            <a:ext cx="12192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LIFO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9F38A-8172-4D65-89F6-5B33F56D7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4971" y="6285448"/>
            <a:ext cx="1667069" cy="453541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E230BFED-CBC3-477E-AAAB-81BFBEA5F162}"/>
              </a:ext>
            </a:extLst>
          </p:cNvPr>
          <p:cNvSpPr txBox="1"/>
          <p:nvPr/>
        </p:nvSpPr>
        <p:spPr>
          <a:xfrm>
            <a:off x="2285998" y="1513551"/>
            <a:ext cx="7690377" cy="1938992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Task: A company buys and sells one model of personal computers. Calculate the company’s Cogs, beginning and ending inventory if you know that it purchased:</a:t>
            </a: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3 PCs at $350 – December 1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2017</a:t>
            </a: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4 PCs at $400 – December 8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2017</a:t>
            </a: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5 PCs at $500 – December 21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2017</a:t>
            </a:r>
          </a:p>
          <a:p>
            <a:endParaRPr lang="en-US" sz="14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The company sold two PCs on 10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 and another two on the 22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nd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December. The first two PCs it sold were purchased on the 1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December, while the second two on the 8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D4D994-2107-4FD5-BA3A-2D2D3049F56E}"/>
              </a:ext>
            </a:extLst>
          </p:cNvPr>
          <p:cNvSpPr txBox="1"/>
          <p:nvPr/>
        </p:nvSpPr>
        <p:spPr>
          <a:xfrm>
            <a:off x="4573554" y="4799769"/>
            <a:ext cx="25908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56FE2C-8BBD-40A5-ACCE-06312629C888}"/>
              </a:ext>
            </a:extLst>
          </p:cNvPr>
          <p:cNvSpPr txBox="1"/>
          <p:nvPr/>
        </p:nvSpPr>
        <p:spPr>
          <a:xfrm>
            <a:off x="4573554" y="5301802"/>
            <a:ext cx="25908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73FC74-3961-4761-BB9D-81A55FFF72A0}"/>
              </a:ext>
            </a:extLst>
          </p:cNvPr>
          <p:cNvSpPr txBox="1"/>
          <p:nvPr/>
        </p:nvSpPr>
        <p:spPr>
          <a:xfrm>
            <a:off x="4573554" y="5844408"/>
            <a:ext cx="25908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3FCB8C-6413-4B1D-88B6-B709A9E486B1}"/>
              </a:ext>
            </a:extLst>
          </p:cNvPr>
          <p:cNvSpPr txBox="1"/>
          <p:nvPr/>
        </p:nvSpPr>
        <p:spPr>
          <a:xfrm>
            <a:off x="7441163" y="4799769"/>
            <a:ext cx="20574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25BF83-8204-4DFC-BC9A-ED7A6029CAB0}"/>
              </a:ext>
            </a:extLst>
          </p:cNvPr>
          <p:cNvSpPr txBox="1"/>
          <p:nvPr/>
        </p:nvSpPr>
        <p:spPr>
          <a:xfrm>
            <a:off x="7441163" y="5301802"/>
            <a:ext cx="20574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A24428-DB0A-4C59-BBCE-C276C0C5C82D}"/>
              </a:ext>
            </a:extLst>
          </p:cNvPr>
          <p:cNvSpPr txBox="1"/>
          <p:nvPr/>
        </p:nvSpPr>
        <p:spPr>
          <a:xfrm>
            <a:off x="7441163" y="5844408"/>
            <a:ext cx="20574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64379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75099" y="533401"/>
            <a:ext cx="7940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Cost Flow methods – Exercise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05000" y="1039368"/>
            <a:ext cx="8071376" cy="2743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 rot="5400000">
            <a:off x="1735836" y="870204"/>
            <a:ext cx="365760" cy="2743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86000" y="4295963"/>
            <a:ext cx="7690376" cy="457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286000" y="4920803"/>
            <a:ext cx="76903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286000" y="5499923"/>
            <a:ext cx="76903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286000" y="6079043"/>
            <a:ext cx="76903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86000" y="3993874"/>
            <a:ext cx="1447800" cy="215444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Accounting for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3554" y="3993874"/>
            <a:ext cx="1219200" cy="215444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1163" y="3993874"/>
            <a:ext cx="1219200" cy="215444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Inventory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5999" y="4460031"/>
            <a:ext cx="1697603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Specific Identification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3554" y="4460031"/>
            <a:ext cx="25908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41163" y="4460031"/>
            <a:ext cx="20574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5165530"/>
            <a:ext cx="12192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FIFO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667563"/>
            <a:ext cx="1697602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Weighted average cost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6202118"/>
            <a:ext cx="12192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LIFO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9F38A-8172-4D65-89F6-5B33F56D7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4971" y="6285448"/>
            <a:ext cx="1667069" cy="453541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E230BFED-CBC3-477E-AAAB-81BFBEA5F162}"/>
              </a:ext>
            </a:extLst>
          </p:cNvPr>
          <p:cNvSpPr txBox="1"/>
          <p:nvPr/>
        </p:nvSpPr>
        <p:spPr>
          <a:xfrm>
            <a:off x="2285998" y="1513551"/>
            <a:ext cx="7690377" cy="2369880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Task: Carry out the same calculation for an updated price of the PCs purchased on the 21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</a:t>
            </a: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3 PCs at $350 – December 1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2017</a:t>
            </a: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4 PCs at $400 – December 8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2017</a:t>
            </a: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5 PCs at $600 – December 21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2017</a:t>
            </a:r>
          </a:p>
          <a:p>
            <a:endParaRPr lang="en-US" sz="14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Compare the different methods and the way they are impacted by increasing prices</a:t>
            </a:r>
          </a:p>
          <a:p>
            <a:endParaRPr lang="en-US" sz="14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The company sold two PCs on 10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 and another two on the 22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nd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December. The first two PCs it sold were purchased on the 1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December, while the second two on the 8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D4D994-2107-4FD5-BA3A-2D2D3049F56E}"/>
              </a:ext>
            </a:extLst>
          </p:cNvPr>
          <p:cNvSpPr txBox="1"/>
          <p:nvPr/>
        </p:nvSpPr>
        <p:spPr>
          <a:xfrm>
            <a:off x="4573554" y="5165530"/>
            <a:ext cx="25908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56FE2C-8BBD-40A5-ACCE-06312629C888}"/>
              </a:ext>
            </a:extLst>
          </p:cNvPr>
          <p:cNvSpPr txBox="1"/>
          <p:nvPr/>
        </p:nvSpPr>
        <p:spPr>
          <a:xfrm>
            <a:off x="4573554" y="5667563"/>
            <a:ext cx="25908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73FC74-3961-4761-BB9D-81A55FFF72A0}"/>
              </a:ext>
            </a:extLst>
          </p:cNvPr>
          <p:cNvSpPr txBox="1"/>
          <p:nvPr/>
        </p:nvSpPr>
        <p:spPr>
          <a:xfrm>
            <a:off x="4573554" y="6210169"/>
            <a:ext cx="25908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3FCB8C-6413-4B1D-88B6-B709A9E486B1}"/>
              </a:ext>
            </a:extLst>
          </p:cNvPr>
          <p:cNvSpPr txBox="1"/>
          <p:nvPr/>
        </p:nvSpPr>
        <p:spPr>
          <a:xfrm>
            <a:off x="7441163" y="5165530"/>
            <a:ext cx="20574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25BF83-8204-4DFC-BC9A-ED7A6029CAB0}"/>
              </a:ext>
            </a:extLst>
          </p:cNvPr>
          <p:cNvSpPr txBox="1"/>
          <p:nvPr/>
        </p:nvSpPr>
        <p:spPr>
          <a:xfrm>
            <a:off x="7441163" y="5667563"/>
            <a:ext cx="20574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A24428-DB0A-4C59-BBCE-C276C0C5C82D}"/>
              </a:ext>
            </a:extLst>
          </p:cNvPr>
          <p:cNvSpPr txBox="1"/>
          <p:nvPr/>
        </p:nvSpPr>
        <p:spPr>
          <a:xfrm>
            <a:off x="7441163" y="6210169"/>
            <a:ext cx="20574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71683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75099" y="533401"/>
            <a:ext cx="7940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Cost Flow methods – Solution Exercise 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05000" y="1039368"/>
            <a:ext cx="8071376" cy="2743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 rot="5400000">
            <a:off x="1735836" y="870204"/>
            <a:ext cx="365760" cy="2743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86000" y="3930202"/>
            <a:ext cx="7690376" cy="457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286000" y="4555042"/>
            <a:ext cx="76903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286000" y="5134162"/>
            <a:ext cx="76903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286000" y="5713282"/>
            <a:ext cx="76903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86000" y="3628113"/>
            <a:ext cx="1447800" cy="215444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Accounting for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3554" y="3628113"/>
            <a:ext cx="1219200" cy="215444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1163" y="3628113"/>
            <a:ext cx="1219200" cy="215444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Inventory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5999" y="4094270"/>
            <a:ext cx="1697603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Specific Identification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3554" y="4094270"/>
            <a:ext cx="25908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2x$350 + 2x$400 = $1,500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41163" y="4094270"/>
            <a:ext cx="2057400" cy="369332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1x$350 + 2x$400 + 5x$500=</a:t>
            </a:r>
          </a:p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$3,650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799769"/>
            <a:ext cx="12192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FIFO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301802"/>
            <a:ext cx="1697602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Weighted average cost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6152878"/>
            <a:ext cx="12192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LIFO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9F38A-8172-4D65-89F6-5B33F56D7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4971" y="6285448"/>
            <a:ext cx="1667069" cy="453541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AED4D994-2107-4FD5-BA3A-2D2D3049F56E}"/>
              </a:ext>
            </a:extLst>
          </p:cNvPr>
          <p:cNvSpPr txBox="1"/>
          <p:nvPr/>
        </p:nvSpPr>
        <p:spPr>
          <a:xfrm>
            <a:off x="4573554" y="4799769"/>
            <a:ext cx="25908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3x$350 + 1x$400 = $1,450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56FE2C-8BBD-40A5-ACCE-06312629C888}"/>
              </a:ext>
            </a:extLst>
          </p:cNvPr>
          <p:cNvSpPr txBox="1"/>
          <p:nvPr/>
        </p:nvSpPr>
        <p:spPr>
          <a:xfrm>
            <a:off x="4573554" y="5301802"/>
            <a:ext cx="2590800" cy="738664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2* (3*$350+4*$400)/7 = $757 (10</a:t>
            </a:r>
            <a:r>
              <a:rPr lang="en-US" sz="12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Dec)</a:t>
            </a:r>
          </a:p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2* (3*$350+4*$400+5*$500)-$757/(12-2) =$879 (21</a:t>
            </a:r>
            <a:r>
              <a:rPr lang="en-US" sz="12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Dec)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73FC74-3961-4761-BB9D-81A55FFF72A0}"/>
              </a:ext>
            </a:extLst>
          </p:cNvPr>
          <p:cNvSpPr txBox="1"/>
          <p:nvPr/>
        </p:nvSpPr>
        <p:spPr>
          <a:xfrm>
            <a:off x="4573554" y="6160929"/>
            <a:ext cx="25908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2 x $400 + 2*500  = $1,800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3FCB8C-6413-4B1D-88B6-B709A9E486B1}"/>
              </a:ext>
            </a:extLst>
          </p:cNvPr>
          <p:cNvSpPr txBox="1"/>
          <p:nvPr/>
        </p:nvSpPr>
        <p:spPr>
          <a:xfrm>
            <a:off x="7441163" y="4799769"/>
            <a:ext cx="2057400" cy="369332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3x$400 + 5x$500=</a:t>
            </a:r>
          </a:p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$3,700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25BF83-8204-4DFC-BC9A-ED7A6029CAB0}"/>
              </a:ext>
            </a:extLst>
          </p:cNvPr>
          <p:cNvSpPr txBox="1"/>
          <p:nvPr/>
        </p:nvSpPr>
        <p:spPr>
          <a:xfrm>
            <a:off x="7441163" y="5301802"/>
            <a:ext cx="2057400" cy="369332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3*$350+4*$400+5*$500 – $757-  $879 = $3,514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A24428-DB0A-4C59-BBCE-C276C0C5C82D}"/>
              </a:ext>
            </a:extLst>
          </p:cNvPr>
          <p:cNvSpPr txBox="1"/>
          <p:nvPr/>
        </p:nvSpPr>
        <p:spPr>
          <a:xfrm>
            <a:off x="7441163" y="6160929"/>
            <a:ext cx="2057400" cy="369332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3x$350 + 2x$400 + 3x$500 = $3,350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35895D-6DCC-415C-B0E4-18A78A0D0991}"/>
              </a:ext>
            </a:extLst>
          </p:cNvPr>
          <p:cNvSpPr txBox="1"/>
          <p:nvPr/>
        </p:nvSpPr>
        <p:spPr>
          <a:xfrm>
            <a:off x="2285998" y="1513551"/>
            <a:ext cx="7690377" cy="1938992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Task: A company buys and sells one model of personal computers. Calculate the company’s Cogs, beginning and ending inventory if you know that it purchased:</a:t>
            </a: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3 PCs at $350 – December 1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2017</a:t>
            </a: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4 PCs at $400 – December 8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2017</a:t>
            </a: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5 PCs at $500 – December 21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2017</a:t>
            </a:r>
          </a:p>
          <a:p>
            <a:endParaRPr lang="en-US" sz="14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The company sold two PCs on 10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 and another two on the 22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nd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December. The first two PCs it sold were purchased on the 1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December, while the second two on the 15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December.</a:t>
            </a:r>
          </a:p>
        </p:txBody>
      </p:sp>
    </p:spTree>
    <p:extLst>
      <p:ext uri="{BB962C8B-B14F-4D97-AF65-F5344CB8AC3E}">
        <p14:creationId xmlns:p14="http://schemas.microsoft.com/office/powerpoint/2010/main" val="1194622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75099" y="533401"/>
            <a:ext cx="7940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Cost Flow methods – Solution Exercise 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05000" y="1039368"/>
            <a:ext cx="8071376" cy="2743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 rot="5400000">
            <a:off x="1735836" y="870204"/>
            <a:ext cx="365760" cy="2743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86000" y="4146495"/>
            <a:ext cx="7690376" cy="4572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286000" y="4771335"/>
            <a:ext cx="76903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286000" y="5350455"/>
            <a:ext cx="76903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286000" y="5929575"/>
            <a:ext cx="769037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286000" y="3844406"/>
            <a:ext cx="1447800" cy="215444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Accounting for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3554" y="3844406"/>
            <a:ext cx="1219200" cy="215444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1163" y="3844406"/>
            <a:ext cx="1219200" cy="215444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Inventory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5999" y="4310563"/>
            <a:ext cx="1697603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Specific Identification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3554" y="4310563"/>
            <a:ext cx="2590800" cy="369332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2x$350 + 2x$400 = $1,500</a:t>
            </a:r>
          </a:p>
          <a:p>
            <a:endParaRPr lang="en-US" sz="12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441163" y="4310563"/>
            <a:ext cx="2057400" cy="369332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1x$350 + 2x$400 + 5x$600=</a:t>
            </a:r>
          </a:p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$4,150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5016062"/>
            <a:ext cx="12192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FIFO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518095"/>
            <a:ext cx="1697602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Weighted average cost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6307628"/>
            <a:ext cx="12192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LIFO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69F38A-8172-4D65-89F6-5B33F56D7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4971" y="6285448"/>
            <a:ext cx="1667069" cy="453541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E230BFED-CBC3-477E-AAAB-81BFBEA5F162}"/>
              </a:ext>
            </a:extLst>
          </p:cNvPr>
          <p:cNvSpPr txBox="1"/>
          <p:nvPr/>
        </p:nvSpPr>
        <p:spPr>
          <a:xfrm>
            <a:off x="2285998" y="1408046"/>
            <a:ext cx="7690377" cy="2369880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Task: Carry out the same calculation for an updated price of the PCs purchased on the 31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</a:t>
            </a: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3 PCs at $350 – December 1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2017</a:t>
            </a: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4 PCs at $400 – December 15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2017</a:t>
            </a: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5 PCs at $600 – December 17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2017</a:t>
            </a:r>
          </a:p>
          <a:p>
            <a:endParaRPr lang="en-US" sz="14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Compare the different methods and the way they are impacted by increasing prices</a:t>
            </a:r>
          </a:p>
          <a:p>
            <a:endParaRPr lang="en-US" sz="14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The company sold two PCs on 10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 and another two on the 17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December. The first two PCs it sold were purchased on the 1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December, while the second two on the 15</a:t>
            </a:r>
            <a:r>
              <a:rPr lang="en-US" sz="14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of December.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D4D994-2107-4FD5-BA3A-2D2D3049F56E}"/>
              </a:ext>
            </a:extLst>
          </p:cNvPr>
          <p:cNvSpPr txBox="1"/>
          <p:nvPr/>
        </p:nvSpPr>
        <p:spPr>
          <a:xfrm>
            <a:off x="4573554" y="5016062"/>
            <a:ext cx="2590800" cy="369332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3x$350 + 1x$400 = $1,450</a:t>
            </a:r>
          </a:p>
          <a:p>
            <a:endParaRPr lang="en-US" sz="12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56FE2C-8BBD-40A5-ACCE-06312629C888}"/>
              </a:ext>
            </a:extLst>
          </p:cNvPr>
          <p:cNvSpPr txBox="1"/>
          <p:nvPr/>
        </p:nvSpPr>
        <p:spPr>
          <a:xfrm>
            <a:off x="4573554" y="5518095"/>
            <a:ext cx="2590800" cy="923330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2* (3*$350+4*$400)/7 = $757 (10</a:t>
            </a:r>
            <a:r>
              <a:rPr lang="en-US" sz="12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</a:t>
            </a:r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Dec)</a:t>
            </a:r>
          </a:p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2* (3*$350+4*$400+5*$600)-$757/(12-2) =$979 (21</a:t>
            </a:r>
            <a:r>
              <a:rPr lang="en-US" sz="1200" b="1" baseline="30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st</a:t>
            </a:r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Dec)</a:t>
            </a:r>
          </a:p>
          <a:p>
            <a:endParaRPr lang="en-US" sz="12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73FC74-3961-4761-BB9D-81A55FFF72A0}"/>
              </a:ext>
            </a:extLst>
          </p:cNvPr>
          <p:cNvSpPr txBox="1"/>
          <p:nvPr/>
        </p:nvSpPr>
        <p:spPr>
          <a:xfrm>
            <a:off x="4573554" y="6315679"/>
            <a:ext cx="2590800" cy="184666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2* $400 + 2*$600 = $2,000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3FCB8C-6413-4B1D-88B6-B709A9E486B1}"/>
              </a:ext>
            </a:extLst>
          </p:cNvPr>
          <p:cNvSpPr txBox="1"/>
          <p:nvPr/>
        </p:nvSpPr>
        <p:spPr>
          <a:xfrm>
            <a:off x="7441163" y="5016062"/>
            <a:ext cx="2057400" cy="553998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3x$400 + 5x$600=</a:t>
            </a:r>
          </a:p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$4,200</a:t>
            </a:r>
          </a:p>
          <a:p>
            <a:endParaRPr lang="en-US" sz="12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25BF83-8204-4DFC-BC9A-ED7A6029CAB0}"/>
              </a:ext>
            </a:extLst>
          </p:cNvPr>
          <p:cNvSpPr txBox="1"/>
          <p:nvPr/>
        </p:nvSpPr>
        <p:spPr>
          <a:xfrm>
            <a:off x="7441163" y="5518095"/>
            <a:ext cx="2057400" cy="553998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3*$350+4*$400+5*$600 – $757-  $979 = $3,914</a:t>
            </a:r>
          </a:p>
          <a:p>
            <a:endParaRPr lang="en-US" sz="12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A24428-DB0A-4C59-BBCE-C276C0C5C82D}"/>
              </a:ext>
            </a:extLst>
          </p:cNvPr>
          <p:cNvSpPr txBox="1"/>
          <p:nvPr/>
        </p:nvSpPr>
        <p:spPr>
          <a:xfrm>
            <a:off x="7441163" y="6315679"/>
            <a:ext cx="2057400" cy="553998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0"/>
              </a:srgbClr>
            </a:outerShdw>
          </a:effectLst>
        </p:spPr>
        <p:txBody>
          <a:bodyPr wrap="squar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3x$350 + 2x$400 + 3x$600 =</a:t>
            </a:r>
          </a:p>
          <a:p>
            <a:r>
              <a:rPr lang="en-US" sz="12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$3,650</a:t>
            </a:r>
          </a:p>
          <a:p>
            <a:endParaRPr lang="en-US" sz="1200" b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767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728</Words>
  <Application>Microsoft Office PowerPoint</Application>
  <PresentationFormat>Widescreen</PresentationFormat>
  <Paragraphs>99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NewPC</dc:creator>
  <cp:lastModifiedBy>Nedko TK</cp:lastModifiedBy>
  <cp:revision>16</cp:revision>
  <dcterms:created xsi:type="dcterms:W3CDTF">2017-10-06T06:57:57Z</dcterms:created>
  <dcterms:modified xsi:type="dcterms:W3CDTF">2020-01-24T09:09:03Z</dcterms:modified>
</cp:coreProperties>
</file>